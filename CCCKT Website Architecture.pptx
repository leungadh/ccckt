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6bfbb72-2970-7227-5af6-e6c26107d39f}">
          <p14:sldIdLst>
            <p14:sldId id="257"/>
          </p14:sldIdLst>
        </p14:section>
        <p14:section name="Architecture" id="{8be9d09c-9fac-d344-a694-200b4d441c2f}">
          <p14:sldIdLst>
            <p14:sldId id="258"/>
            <p14:sldId id="259"/>
            <p14:sldId id="260"/>
            <p14:sldId id="261"/>
            <p14:sldId id="262"/>
          </p14:sldIdLst>
        </p14:section>
        <p14:section name="Content Updates" id="{d46e7c10-b640-978a-abfc-c6c9795b93ca}">
          <p14:sldIdLst>
            <p14:sldId id="263"/>
            <p14:sldId id="264"/>
          </p14:sldIdLst>
        </p14:section>
        <p14:section name="Admin Accounts" id="{02476825-2719-17ba-6da4-a7e5df980df5}">
          <p14:sldIdLst>
            <p14:sldId id="265"/>
            <p14:sldId id="266"/>
          </p14:sldIdLst>
        </p14:section>
        <p14:section name="Security &amp; Status" id="{df8d7b2e-2554-523c-f7f6-3800d551de7c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4303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54303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SLI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880360"/>
            <a:ext cx="1054303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CCCKT Website — Architecture &amp; Operations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CCCKT Website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Content Operations Guide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site is built, hosted, and kept up to date — for volunteers and church leadership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services, and what each one does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41448"/>
            <a:ext cx="502920" cy="50292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9631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connect to form the live site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375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step: how a volunteer updates content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17880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step: how to add a new admin / volunteer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965192"/>
            <a:ext cx="502920" cy="50292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02005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replaces WordPress more securely</a:t>
            </a:r>
            <a:endParaRPr lang="en-US" sz="1700" dirty="0"/>
          </a:p>
        </p:txBody>
      </p:sp>
      <p:sp>
        <p:nvSpPr>
          <p:cNvPr id="18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Services, One Website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705356" y="15087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66717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88236" y="1764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888236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repository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14316" y="15087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0F80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97196" y="1764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97196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global CDN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23276" y="15087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1629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06156" y="1764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06156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or volunteer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5676" y="2125980"/>
            <a:ext cx="548640" cy="0"/>
          </a:xfrm>
          <a:prstGeom prst="line">
            <a:avLst/>
          </a:prstGeom>
          <a:noFill/>
          <a:ln w="28575">
            <a:solidFill>
              <a:srgbClr val="667179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174236" y="11247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auto-deploy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74636" y="2125980"/>
            <a:ext cx="548640" cy="0"/>
          </a:xfrm>
          <a:prstGeom prst="line">
            <a:avLst/>
          </a:prstGeom>
          <a:noFill/>
          <a:ln w="28575">
            <a:solidFill>
              <a:srgbClr val="0F8080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237476" y="112471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static site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23276" y="37947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0B63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06156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106156" y="43616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Database · Storage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03436" y="2743200"/>
            <a:ext cx="0" cy="1051560"/>
          </a:xfrm>
          <a:prstGeom prst="line">
            <a:avLst/>
          </a:prstGeom>
          <a:noFill/>
          <a:ln w="28575">
            <a:solidFill>
              <a:srgbClr val="0B6363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825996" y="3035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calls — login, forms, content, file uploads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sits between the browser and the database — the browser's own JavaScript talks to Supabase directly, secured by database-level permission rules (RLS).</a:t>
            </a:r>
            <a:endParaRPr lang="en-US" sz="1200" dirty="0"/>
          </a:p>
        </p:txBody>
      </p:sp>
      <p:sp>
        <p:nvSpPr>
          <p:cNvPr id="22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Astro — The Site Builder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017520" cy="4572000"/>
          </a:xfrm>
          <a:prstGeom prst="roundRect">
            <a:avLst>
              <a:gd name="adj" fmla="val 4242"/>
            </a:avLst>
          </a:prstGeom>
          <a:solidFill>
            <a:srgbClr val="E8F3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turns source code into the actual web pages people visit.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site/ folder of the GitHub repository.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69080" y="167335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6002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both the public pages (home, sermons, events…) and the admin forms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069080" y="267919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26060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plain HTML, CSS, and JavaScript — no server runs at the moment someone visits the site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069080" y="368503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36118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update, at build time, not on every page request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069080" y="469087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43400" y="46177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site's design or structure means editing this code and redeploying</a:t>
            </a:r>
            <a:endParaRPr lang="en-US" sz="1450" dirty="0"/>
          </a:p>
        </p:txBody>
      </p:sp>
      <p:sp>
        <p:nvSpPr>
          <p:cNvPr id="16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 Pages — Hosting &amp; Delivery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017520" cy="4572000"/>
          </a:xfrm>
          <a:prstGeom prst="roundRect">
            <a:avLst>
              <a:gd name="adj" fmla="val 4242"/>
            </a:avLst>
          </a:prstGeom>
          <a:solidFill>
            <a:srgbClr val="E8F3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service that puts Astro's finished pages on the internet.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address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ccckt.pages.dev — can later take over ccckt.org.hk.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69080" y="167335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6002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GitHub repository and automatically rebuilds &amp; redeploys on every push — no manual upload step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069080" y="267919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26060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site from a global CDN, so pages load quickly anywhere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069080" y="368503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36118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Cloudflare's free tier at this site's traffic level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069080" y="469087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43400" y="46177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patches and secures its own hosting infrastructure — nothing here for the church to maintain</a:t>
            </a:r>
            <a:endParaRPr lang="en-US" sz="1450" dirty="0"/>
          </a:p>
        </p:txBody>
      </p:sp>
      <p:sp>
        <p:nvSpPr>
          <p:cNvPr id="16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— Data, Login &amp; Files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017520" cy="4572000"/>
          </a:xfrm>
          <a:prstGeom prst="roundRect">
            <a:avLst>
              <a:gd name="adj" fmla="val 4242"/>
            </a:avLst>
          </a:prstGeom>
          <a:solidFill>
            <a:srgbClr val="E8F3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backend: database, login system, and file storage, with nothing to install.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(RLS): everyone can read, only logged-in volunteers can write.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69080" y="167335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6002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the announcements, sermons, and events tables behind every public page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069080" y="267919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26060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volunteer login by email &amp; password — invite-only, public sign-up is turned off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069080" y="368503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36118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holds the uploaded sermon PDF/PPT files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069080" y="4690872"/>
            <a:ext cx="109728" cy="10972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43400" y="46177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covers this site comfortably at its current size</a:t>
            </a:r>
            <a:endParaRPr lang="en-US" sz="1450" dirty="0"/>
          </a:p>
        </p:txBody>
      </p:sp>
      <p:sp>
        <p:nvSpPr>
          <p:cNvPr id="16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Connect, Step by Step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82980" y="2263140"/>
            <a:ext cx="10222992" cy="0"/>
          </a:xfrm>
          <a:prstGeom prst="line">
            <a:avLst/>
          </a:prstGeom>
          <a:noFill/>
          <a:ln w="38100">
            <a:solidFill>
              <a:srgbClr val="E8F3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7909" y="1920240"/>
            <a:ext cx="685800" cy="68580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57909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pushed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2521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is pushed to the GitHub repository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3687" y="1920240"/>
            <a:ext cx="685800" cy="68580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53687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35858" y="2926080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builds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35858" y="3383280"/>
            <a:ext cx="2521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auto-builds and deploys the new version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49465" y="1920240"/>
            <a:ext cx="685800" cy="68580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49465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31636" y="2926080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loads site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1636" y="3383280"/>
            <a:ext cx="2521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Visitor's browser fetches static pages from the CDN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45243" y="1920240"/>
            <a:ext cx="685800" cy="685800"/>
          </a:xfrm>
          <a:prstGeom prst="ellipse">
            <a:avLst/>
          </a:prstGeom>
          <a:solidFill>
            <a:srgbClr val="0B63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45243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27414" y="2926080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↔ Supabase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27414" y="3383280"/>
            <a:ext cx="2521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content, and uploads happen directly, in real time</a:t>
            </a:r>
            <a:endParaRPr lang="en-US" sz="1150" dirty="0"/>
          </a:p>
        </p:txBody>
      </p:sp>
      <p:sp>
        <p:nvSpPr>
          <p:cNvPr id="20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88036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Volunteer Updates Content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Login to Live, in Five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1783080"/>
            <a:ext cx="0" cy="3291840"/>
          </a:xfrm>
          <a:prstGeom prst="line">
            <a:avLst/>
          </a:prstGeom>
          <a:noFill/>
          <a:ln w="38100">
            <a:solidFill>
              <a:srgbClr val="E8F3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48132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admin login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37944"/>
            <a:ext cx="9720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device, any browser — ccckt.pages.dev/admin/login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548640" cy="54864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30428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email &amp; password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660904"/>
            <a:ext cx="9720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verifies the volunteer and starts a secure session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12724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form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483864"/>
            <a:ext cx="9720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Announcement, sermon, or event — then press submit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548640" cy="54864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95020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directly to Supabase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306824"/>
            <a:ext cx="9720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writes straight to the database — no separate backend server involved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800600"/>
            <a:ext cx="548640" cy="548640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4773168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immediately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5129784"/>
            <a:ext cx="9720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page shows the new content right away — no rebuild, no waiting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E8F3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5769864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any device — phone, tablet, or computer — anywhere with internet access.</a:t>
            </a:r>
            <a:endParaRPr lang="en-US" sz="1300" dirty="0"/>
          </a:p>
        </p:txBody>
      </p:sp>
      <p:sp>
        <p:nvSpPr>
          <p:cNvPr id="26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88036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New Admin (Volunteer)</a:t>
            </a:r>
            <a:endParaRPr lang="en-US" sz="3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Add a Volunteer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25796" cy="4114800"/>
          </a:xfrm>
          <a:prstGeom prst="roundRect">
            <a:avLst>
              <a:gd name="adj" fmla="val 3111"/>
            </a:avLst>
          </a:prstGeom>
          <a:solidFill>
            <a:srgbClr val="E8F3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585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01168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Developer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0120" y="2697480"/>
            <a:ext cx="384048" cy="38404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724912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volunteer's email address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355848"/>
            <a:ext cx="384048" cy="38404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83280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sends a Supabase invite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014216"/>
            <a:ext cx="384048" cy="38404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41648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receives access &amp; sets a password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" y="4672584"/>
            <a:ext cx="384048" cy="384048"/>
          </a:xfrm>
          <a:prstGeom prst="ellipse">
            <a:avLst/>
          </a:prstGeom>
          <a:solidFill>
            <a:srgbClr val="0F80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700016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logs in and starts posting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23076" y="1417320"/>
            <a:ext cx="5225796" cy="4114800"/>
          </a:xfrm>
          <a:prstGeom prst="roundRect">
            <a:avLst>
              <a:gd name="adj" fmla="val 3111"/>
            </a:avLst>
          </a:prstGeom>
          <a:solidFill>
            <a:srgbClr val="E8F3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43116" y="1691640"/>
            <a:ext cx="4585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43116" y="2011680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Yourself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643116" y="2697480"/>
            <a:ext cx="384048" cy="384048"/>
          </a:xfrm>
          <a:prstGeom prst="ellipse">
            <a:avLst/>
          </a:prstGeom>
          <a:solidFill>
            <a:srgbClr val="0B63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4311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46036" y="2724912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at supabase.com/dashboard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43116" y="3355848"/>
            <a:ext cx="384048" cy="384048"/>
          </a:xfrm>
          <a:prstGeom prst="ellipse">
            <a:avLst/>
          </a:prstGeom>
          <a:solidFill>
            <a:srgbClr val="0B636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43116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46036" y="3383280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Authentication → Users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43116" y="4014216"/>
            <a:ext cx="384048" cy="384048"/>
          </a:xfrm>
          <a:prstGeom prst="ellipse">
            <a:avLst/>
          </a:prstGeom>
          <a:solidFill>
            <a:srgbClr val="0B63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43116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146036" y="4041648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"Add user" / "Invite"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43116" y="4672584"/>
            <a:ext cx="384048" cy="384048"/>
          </a:xfrm>
          <a:prstGeom prst="ellipse">
            <a:avLst/>
          </a:prstGeom>
          <a:solidFill>
            <a:srgbClr val="0B63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43116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46036" y="4700016"/>
            <a:ext cx="40370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their email — done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5760720"/>
            <a:ext cx="10908792" cy="502920"/>
          </a:xfrm>
          <a:prstGeom prst="roundRect">
            <a:avLst>
              <a:gd name="adj" fmla="val 18182"/>
            </a:avLst>
          </a:prstGeom>
          <a:solidFill>
            <a:srgbClr val="FFF4E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0" y="58978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sign-up is turned off on purpose — only people explicitly invited this way can get an account.</a:t>
            </a:r>
            <a:endParaRPr lang="en-US" sz="1250" dirty="0"/>
          </a:p>
        </p:txBody>
      </p:sp>
      <p:sp>
        <p:nvSpPr>
          <p:cNvPr id="35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Replaces WordPress More Securely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25796" cy="4206240"/>
          </a:xfrm>
          <a:prstGeom prst="roundRect">
            <a:avLst>
              <a:gd name="adj" fmla="val 3043"/>
            </a:avLst>
          </a:prstGeom>
          <a:solidFill>
            <a:srgbClr val="FBE9E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WordPress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331720"/>
            <a:ext cx="4265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PHP, plugins, and a database server, all publicly reachable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246120"/>
            <a:ext cx="4265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unpatched — a live, standing vulnerability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160520"/>
            <a:ext cx="4265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the church's own ongoing responsibility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23076" y="1417320"/>
            <a:ext cx="5225796" cy="4206240"/>
          </a:xfrm>
          <a:prstGeom prst="roundRect">
            <a:avLst>
              <a:gd name="adj" fmla="val 3043"/>
            </a:avLst>
          </a:prstGeom>
          <a:solidFill>
            <a:srgbClr val="E8F3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43116" y="169164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Static Site + Supabase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43116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63156" y="2331720"/>
            <a:ext cx="4265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static files are public — nothing to exploit at that layer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643116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63156" y="3200400"/>
            <a:ext cx="4265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and Supabase patch their own infrastructure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643116" y="4069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63156" y="4069080"/>
            <a:ext cx="4265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rules (RLS) enforce permissions even if the public key leaks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643116" y="4937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63156" y="4937760"/>
            <a:ext cx="4265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accounts are invite-only, never public sign-up</a:t>
            </a:r>
            <a:endParaRPr lang="en-US" sz="1350" dirty="0"/>
          </a:p>
        </p:txBody>
      </p:sp>
      <p:sp>
        <p:nvSpPr>
          <p:cNvPr id="21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What's Left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965960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site scaffolded &amp; deployed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3288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32888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database, auth &amp; storage set up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998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9816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login + 3 volunteer forms, tested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6674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66744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 with real migrated content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3367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233672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visual design pass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23076" y="146304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23076" y="19659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43116" y="1965960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&amp; secure the live WordPress site (urgent)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23076" y="26243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43116" y="2624328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final volunteer list with church leadership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23076" y="328269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43116" y="3282696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cutover: point ccckt.org.hk to the new site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23076" y="394106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43116" y="3941064"/>
            <a:ext cx="4905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6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WordPress after final backup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E8F3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0120" y="562356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B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rebuild removes the actual source of risk. Patching WordPress now is the one item that shouldn't wait for the rest of this plan.</a:t>
            </a:r>
            <a:endParaRPr lang="en-US" sz="1300" dirty="0"/>
          </a:p>
        </p:txBody>
      </p:sp>
      <p:sp>
        <p:nvSpPr>
          <p:cNvPr id="25" name="Text 1"/>
          <p:cNvSpPr/>
          <p:nvPr>
            <p:ph idx="102" type="body" hasCustomPrompt="1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510528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1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CCKT Architecture">
  <a:themeElements>
    <a:clrScheme name="CCCKT Architecture">
      <a:dk1>
        <a:srgbClr val="16293A"/>
      </a:dk1>
      <a:lt1>
        <a:srgbClr val="FFFFFF"/>
      </a:lt1>
      <a:dk2>
        <a:srgbClr val="0B6363"/>
      </a:dk2>
      <a:lt2>
        <a:srgbClr val="E8F3F2"/>
      </a:lt2>
      <a:accent1>
        <a:srgbClr val="0F8080"/>
      </a:accent1>
      <a:accent2>
        <a:srgbClr val="16293A"/>
      </a:accent2>
      <a:accent3>
        <a:srgbClr val="B00020"/>
      </a:accent3>
      <a:accent4>
        <a:srgbClr val="667179"/>
      </a:accent4>
      <a:accent5>
        <a:srgbClr val="2C5F2D"/>
      </a:accent5>
      <a:accent6>
        <a:srgbClr val="97BC62"/>
      </a:accent6>
      <a:hlink>
        <a:srgbClr val="0F8080"/>
      </a:hlink>
      <a:folHlink>
        <a:srgbClr val="0B6363"/>
      </a:folHlink>
    </a:clrScheme>
    <a:fontScheme name="CCCKT Architec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CCCKT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2026-10-11T01:05:08Z</dcterms:created>
  <dcterms:modified xsi:type="dcterms:W3CDTF">2026-10-11T01:05:08Z</dcterms:modified>
</cp:coreProperties>
</file>